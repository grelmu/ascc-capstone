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p:scale>
          <a:sx n="83" d="100"/>
          <a:sy n="83" d="100"/>
        </p:scale>
        <p:origin x="61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2EC366-40F9-4247-A64A-1CA2D3A5AC04}" type="datetimeFigureOut">
              <a:rPr lang="en-US" smtClean="0"/>
              <a:t>5/11/2022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2650208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2EC366-40F9-4247-A64A-1CA2D3A5AC04}" type="datetimeFigureOut">
              <a:rPr lang="en-US" smtClean="0"/>
              <a:t>5/11/2022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1449301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E2EC366-40F9-4247-A64A-1CA2D3A5AC04}" type="datetimeFigureOut">
              <a:rPr lang="en-US" smtClean="0"/>
              <a:t>5/11/2022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1153504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2EC366-40F9-4247-A64A-1CA2D3A5AC04}" type="datetimeFigureOut">
              <a:rPr lang="en-US" smtClean="0"/>
              <a:t>5/11/2022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3573141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2EC366-40F9-4247-A64A-1CA2D3A5AC04}" type="datetimeFigureOut">
              <a:rPr lang="en-US" smtClean="0"/>
              <a:t>5/11/2022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426888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2EC366-40F9-4247-A64A-1CA2D3A5AC04}" type="datetimeFigureOut">
              <a:rPr lang="en-US" smtClean="0"/>
              <a:t>5/11/2022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2975931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2EC366-40F9-4247-A64A-1CA2D3A5AC04}" type="datetimeFigureOut">
              <a:rPr lang="en-US" smtClean="0"/>
              <a:t>5/11/2022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4081042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E2EC366-40F9-4247-A64A-1CA2D3A5AC04}" type="datetimeFigureOut">
              <a:rPr lang="en-US" smtClean="0"/>
              <a:t>5/11/2022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249967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E2EC366-40F9-4247-A64A-1CA2D3A5AC04}" type="datetimeFigureOut">
              <a:rPr lang="en-US" smtClean="0"/>
              <a:t>5/11/2022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2203566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2EC366-40F9-4247-A64A-1CA2D3A5AC04}" type="datetimeFigureOut">
              <a:rPr lang="en-US" smtClean="0"/>
              <a:t>5/11/2022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2695466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2EC366-40F9-4247-A64A-1CA2D3A5AC04}" type="datetimeFigureOut">
              <a:rPr lang="en-US" smtClean="0"/>
              <a:t>5/11/2022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ABAB-5DDC-4A9B-95D0-2AE4F43752DE}" type="slidenum">
              <a:rPr lang="en-US" smtClean="0"/>
              <a:t>‹#›</a:t>
            </a:fld>
            <a:endParaRPr lang="en-US"/>
          </a:p>
        </p:txBody>
      </p:sp>
    </p:spTree>
    <p:extLst>
      <p:ext uri="{BB962C8B-B14F-4D97-AF65-F5344CB8AC3E}">
        <p14:creationId xmlns:p14="http://schemas.microsoft.com/office/powerpoint/2010/main" val="386893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2EC366-40F9-4247-A64A-1CA2D3A5AC04}" type="datetimeFigureOut">
              <a:rPr lang="en-US" smtClean="0"/>
              <a:t>5/11/2022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81ABAB-5DDC-4A9B-95D0-2AE4F43752DE}" type="slidenum">
              <a:rPr lang="en-US" smtClean="0"/>
              <a:t>‹#›</a:t>
            </a:fld>
            <a:endParaRPr lang="en-US"/>
          </a:p>
        </p:txBody>
      </p:sp>
    </p:spTree>
    <p:extLst>
      <p:ext uri="{BB962C8B-B14F-4D97-AF65-F5344CB8AC3E}">
        <p14:creationId xmlns:p14="http://schemas.microsoft.com/office/powerpoint/2010/main" val="967154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Add Man Data Warehouse UI Sketch</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858886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 Man Data Warehouse UI Sketch</a:t>
            </a:r>
            <a:endParaRPr lang="en-US" dirty="0"/>
          </a:p>
        </p:txBody>
      </p:sp>
      <p:sp>
        <p:nvSpPr>
          <p:cNvPr id="3" name="Content Placeholder 2"/>
          <p:cNvSpPr>
            <a:spLocks noGrp="1"/>
          </p:cNvSpPr>
          <p:nvPr>
            <p:ph idx="1"/>
          </p:nvPr>
        </p:nvSpPr>
        <p:spPr/>
        <p:txBody>
          <a:bodyPr/>
          <a:lstStyle/>
          <a:p>
            <a:r>
              <a:rPr lang="en-US" dirty="0" smtClean="0"/>
              <a:t>PURPOSE: The Add Man data warehouse house information associated with our manufacturing process.  However, we haven’t fully implemented a friendly user interface for our researchers and scientists.  Additionally, there are pieces and parts of the digital thread (from materials to testing results, along with all the associated operations) that have not been encapsulated in a UI.</a:t>
            </a:r>
          </a:p>
          <a:p>
            <a:endParaRPr lang="en-US" dirty="0"/>
          </a:p>
          <a:p>
            <a:r>
              <a:rPr lang="en-US" dirty="0" smtClean="0"/>
              <a:t>This document is my random thoughts on what the DW for DT might look like…..</a:t>
            </a:r>
            <a:endParaRPr lang="en-US" dirty="0"/>
          </a:p>
        </p:txBody>
      </p:sp>
    </p:spTree>
    <p:extLst>
      <p:ext uri="{BB962C8B-B14F-4D97-AF65-F5344CB8AC3E}">
        <p14:creationId xmlns:p14="http://schemas.microsoft.com/office/powerpoint/2010/main" val="34765974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Initial Landing Page (Very Short Term Goal)</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r>
              <a:rPr lang="en-US" dirty="0" smtClean="0"/>
              <a:t>(note there is a previous login page not shown that will need to be implemented)</a:t>
            </a:r>
            <a:endParaRPr lang="en-US" dirty="0"/>
          </a:p>
        </p:txBody>
      </p:sp>
      <p:sp>
        <p:nvSpPr>
          <p:cNvPr id="4" name="Rectangle 3"/>
          <p:cNvSpPr/>
          <p:nvPr/>
        </p:nvSpPr>
        <p:spPr>
          <a:xfrm>
            <a:off x="569777" y="1570572"/>
            <a:ext cx="11140133" cy="452145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223489661"/>
              </p:ext>
            </p:extLst>
          </p:nvPr>
        </p:nvGraphicFramePr>
        <p:xfrm>
          <a:off x="1689100" y="3043766"/>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152287141"/>
                    </a:ext>
                  </a:extLst>
                </a:gridCol>
                <a:gridCol w="2709333">
                  <a:extLst>
                    <a:ext uri="{9D8B030D-6E8A-4147-A177-3AD203B41FA5}">
                      <a16:colId xmlns:a16="http://schemas.microsoft.com/office/drawing/2014/main" val="477090197"/>
                    </a:ext>
                  </a:extLst>
                </a:gridCol>
                <a:gridCol w="2709333">
                  <a:extLst>
                    <a:ext uri="{9D8B030D-6E8A-4147-A177-3AD203B41FA5}">
                      <a16:colId xmlns:a16="http://schemas.microsoft.com/office/drawing/2014/main" val="4045655870"/>
                    </a:ext>
                  </a:extLst>
                </a:gridCol>
              </a:tblGrid>
              <a:tr h="370840">
                <a:tc>
                  <a:txBody>
                    <a:bodyPr/>
                    <a:lstStyle/>
                    <a:p>
                      <a:r>
                        <a:rPr lang="en-US" dirty="0" smtClean="0"/>
                        <a:t>Recent Artifacts</a:t>
                      </a:r>
                      <a:endParaRPr lang="en-US" dirty="0"/>
                    </a:p>
                  </a:txBody>
                  <a:tcPr/>
                </a:tc>
                <a:tc>
                  <a:txBody>
                    <a:bodyPr/>
                    <a:lstStyle/>
                    <a:p>
                      <a:r>
                        <a:rPr lang="en-US" dirty="0" smtClean="0"/>
                        <a:t>???</a:t>
                      </a:r>
                      <a:endParaRPr lang="en-US" dirty="0"/>
                    </a:p>
                  </a:txBody>
                  <a:tcPr/>
                </a:tc>
                <a:tc>
                  <a:txBody>
                    <a:bodyPr/>
                    <a:lstStyle/>
                    <a:p>
                      <a:r>
                        <a:rPr lang="en-US" dirty="0" smtClean="0"/>
                        <a:t>Last Modified</a:t>
                      </a:r>
                      <a:endParaRPr lang="en-US" dirty="0"/>
                    </a:p>
                  </a:txBody>
                  <a:tcPr/>
                </a:tc>
                <a:extLst>
                  <a:ext uri="{0D108BD9-81ED-4DB2-BD59-A6C34878D82A}">
                    <a16:rowId xmlns:a16="http://schemas.microsoft.com/office/drawing/2014/main" val="1058674053"/>
                  </a:ext>
                </a:extLst>
              </a:tr>
              <a:tr h="370840">
                <a:tc>
                  <a:txBody>
                    <a:bodyPr/>
                    <a:lstStyle/>
                    <a:p>
                      <a:r>
                        <a:rPr lang="en-US" dirty="0" smtClean="0"/>
                        <a:t>Cross</a:t>
                      </a:r>
                      <a:r>
                        <a:rPr lang="en-US" baseline="0" dirty="0" smtClean="0"/>
                        <a:t> section XYZ</a:t>
                      </a:r>
                      <a:endParaRPr lang="en-US" dirty="0"/>
                    </a:p>
                  </a:txBody>
                  <a:tcPr/>
                </a:tc>
                <a:tc>
                  <a:txBody>
                    <a:bodyPr/>
                    <a:lstStyle/>
                    <a:p>
                      <a:endParaRPr lang="en-US"/>
                    </a:p>
                  </a:txBody>
                  <a:tcPr/>
                </a:tc>
                <a:tc>
                  <a:txBody>
                    <a:bodyPr/>
                    <a:lstStyle/>
                    <a:p>
                      <a:r>
                        <a:rPr lang="en-US" dirty="0" smtClean="0"/>
                        <a:t>2-2-2022</a:t>
                      </a:r>
                      <a:endParaRPr lang="en-US" dirty="0"/>
                    </a:p>
                  </a:txBody>
                  <a:tcPr/>
                </a:tc>
                <a:extLst>
                  <a:ext uri="{0D108BD9-81ED-4DB2-BD59-A6C34878D82A}">
                    <a16:rowId xmlns:a16="http://schemas.microsoft.com/office/drawing/2014/main" val="677892893"/>
                  </a:ext>
                </a:extLst>
              </a:tr>
              <a:tr h="370840">
                <a:tc>
                  <a:txBody>
                    <a:bodyPr/>
                    <a:lstStyle/>
                    <a:p>
                      <a:r>
                        <a:rPr lang="en-US" dirty="0" err="1" smtClean="0"/>
                        <a:t>Benchy</a:t>
                      </a:r>
                      <a:r>
                        <a:rPr lang="en-US" dirty="0" smtClean="0"/>
                        <a:t> Boat</a:t>
                      </a:r>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05691425"/>
                  </a:ext>
                </a:extLst>
              </a:tr>
            </a:tbl>
          </a:graphicData>
        </a:graphic>
      </p:graphicFrame>
      <p:sp>
        <p:nvSpPr>
          <p:cNvPr id="10" name="TextBox 9"/>
          <p:cNvSpPr txBox="1"/>
          <p:nvPr/>
        </p:nvSpPr>
        <p:spPr>
          <a:xfrm>
            <a:off x="1604963" y="2702727"/>
            <a:ext cx="3568979" cy="369332"/>
          </a:xfrm>
          <a:prstGeom prst="rect">
            <a:avLst/>
          </a:prstGeom>
          <a:noFill/>
        </p:spPr>
        <p:txBody>
          <a:bodyPr wrap="square" rtlCol="0">
            <a:spAutoFit/>
          </a:bodyPr>
          <a:lstStyle/>
          <a:p>
            <a:r>
              <a:rPr lang="en-US" dirty="0" smtClean="0"/>
              <a:t>Your recent artifacts????not sure</a:t>
            </a:r>
            <a:endParaRPr lang="en-US" dirty="0"/>
          </a:p>
        </p:txBody>
      </p:sp>
      <p:sp>
        <p:nvSpPr>
          <p:cNvPr id="15" name="Rounded Rectangle 14"/>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16" name="Rounded Rectangle 15"/>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17" name="Rounded Rectangle 16"/>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18" name="Rounded Rectangle 17"/>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19" name="Rounded Rectangle 18"/>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4260199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347" y="365125"/>
            <a:ext cx="10756453" cy="1325563"/>
          </a:xfrm>
        </p:spPr>
        <p:txBody>
          <a:bodyPr>
            <a:normAutofit/>
          </a:bodyPr>
          <a:lstStyle/>
          <a:p>
            <a:r>
              <a:rPr lang="en-US" dirty="0" smtClean="0"/>
              <a:t>Materials Landing Page (Very Short Term Goal)</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r>
              <a:rPr lang="en-US" dirty="0" smtClean="0"/>
              <a:t>(note there is a previous login page not shown that will need to be implemented)</a:t>
            </a:r>
            <a:endParaRPr lang="en-US" dirty="0"/>
          </a:p>
        </p:txBody>
      </p:sp>
      <p:sp>
        <p:nvSpPr>
          <p:cNvPr id="4" name="Rectangle 3"/>
          <p:cNvSpPr/>
          <p:nvPr/>
        </p:nvSpPr>
        <p:spPr>
          <a:xfrm>
            <a:off x="597347" y="1570572"/>
            <a:ext cx="11112563" cy="452145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737258070"/>
              </p:ext>
            </p:extLst>
          </p:nvPr>
        </p:nvGraphicFramePr>
        <p:xfrm>
          <a:off x="2138363" y="3426397"/>
          <a:ext cx="8154980" cy="1920240"/>
        </p:xfrm>
        <a:graphic>
          <a:graphicData uri="http://schemas.openxmlformats.org/drawingml/2006/table">
            <a:tbl>
              <a:tblPr firstRow="1" bandRow="1">
                <a:tableStyleId>{5C22544A-7EE6-4342-B048-85BDC9FD1C3A}</a:tableStyleId>
              </a:tblPr>
              <a:tblGrid>
                <a:gridCol w="1630996">
                  <a:extLst>
                    <a:ext uri="{9D8B030D-6E8A-4147-A177-3AD203B41FA5}">
                      <a16:colId xmlns:a16="http://schemas.microsoft.com/office/drawing/2014/main" val="1152287141"/>
                    </a:ext>
                  </a:extLst>
                </a:gridCol>
                <a:gridCol w="1630996">
                  <a:extLst>
                    <a:ext uri="{9D8B030D-6E8A-4147-A177-3AD203B41FA5}">
                      <a16:colId xmlns:a16="http://schemas.microsoft.com/office/drawing/2014/main" val="477090197"/>
                    </a:ext>
                  </a:extLst>
                </a:gridCol>
                <a:gridCol w="1630996">
                  <a:extLst>
                    <a:ext uri="{9D8B030D-6E8A-4147-A177-3AD203B41FA5}">
                      <a16:colId xmlns:a16="http://schemas.microsoft.com/office/drawing/2014/main" val="810959733"/>
                    </a:ext>
                  </a:extLst>
                </a:gridCol>
                <a:gridCol w="1630996">
                  <a:extLst>
                    <a:ext uri="{9D8B030D-6E8A-4147-A177-3AD203B41FA5}">
                      <a16:colId xmlns:a16="http://schemas.microsoft.com/office/drawing/2014/main" val="4045655870"/>
                    </a:ext>
                  </a:extLst>
                </a:gridCol>
                <a:gridCol w="1630996">
                  <a:extLst>
                    <a:ext uri="{9D8B030D-6E8A-4147-A177-3AD203B41FA5}">
                      <a16:colId xmlns:a16="http://schemas.microsoft.com/office/drawing/2014/main" val="1661558583"/>
                    </a:ext>
                  </a:extLst>
                </a:gridCol>
              </a:tblGrid>
              <a:tr h="363315">
                <a:tc>
                  <a:txBody>
                    <a:bodyPr/>
                    <a:lstStyle/>
                    <a:p>
                      <a:r>
                        <a:rPr lang="en-US" dirty="0" smtClean="0"/>
                        <a:t>Material Batches</a:t>
                      </a:r>
                      <a:endParaRPr lang="en-US" dirty="0"/>
                    </a:p>
                  </a:txBody>
                  <a:tcPr/>
                </a:tc>
                <a:tc>
                  <a:txBody>
                    <a:bodyPr/>
                    <a:lstStyle/>
                    <a:p>
                      <a:r>
                        <a:rPr lang="en-US" dirty="0" smtClean="0"/>
                        <a:t>Age/Date</a:t>
                      </a:r>
                      <a:r>
                        <a:rPr lang="en-US" baseline="0" dirty="0" smtClean="0"/>
                        <a:t> Delivered/</a:t>
                      </a:r>
                      <a:r>
                        <a:rPr lang="en-US" baseline="0" dirty="0" err="1" smtClean="0"/>
                        <a:t>etc</a:t>
                      </a:r>
                      <a:endParaRPr lang="en-US" dirty="0"/>
                    </a:p>
                  </a:txBody>
                  <a:tcPr/>
                </a:tc>
                <a:tc>
                  <a:txBody>
                    <a:bodyPr/>
                    <a:lstStyle/>
                    <a:p>
                      <a:r>
                        <a:rPr lang="en-US" dirty="0" smtClean="0"/>
                        <a:t>Some other property (Lot ID, etc.)</a:t>
                      </a:r>
                      <a:endParaRPr lang="en-US" dirty="0"/>
                    </a:p>
                  </a:txBody>
                  <a:tcPr/>
                </a:tc>
                <a:tc>
                  <a:txBody>
                    <a:bodyPr/>
                    <a:lstStyle/>
                    <a:p>
                      <a:r>
                        <a:rPr lang="en-US" dirty="0" smtClean="0"/>
                        <a:t>Dehydrated</a:t>
                      </a:r>
                      <a:r>
                        <a:rPr lang="en-US" baseline="0" dirty="0" smtClean="0"/>
                        <a:t> Date?</a:t>
                      </a:r>
                      <a:endParaRPr lang="en-US" dirty="0"/>
                    </a:p>
                  </a:txBody>
                  <a:tcPr/>
                </a:tc>
                <a:tc>
                  <a:txBody>
                    <a:bodyPr/>
                    <a:lstStyle/>
                    <a:p>
                      <a:r>
                        <a:rPr lang="en-US" dirty="0" smtClean="0"/>
                        <a:t>Other properties</a:t>
                      </a:r>
                      <a:endParaRPr lang="en-US" dirty="0"/>
                    </a:p>
                  </a:txBody>
                  <a:tcPr/>
                </a:tc>
                <a:extLst>
                  <a:ext uri="{0D108BD9-81ED-4DB2-BD59-A6C34878D82A}">
                    <a16:rowId xmlns:a16="http://schemas.microsoft.com/office/drawing/2014/main" val="1058674053"/>
                  </a:ext>
                </a:extLst>
              </a:tr>
              <a:tr h="627091">
                <a:tc>
                  <a:txBody>
                    <a:bodyPr/>
                    <a:lstStyle/>
                    <a:p>
                      <a:r>
                        <a:rPr lang="en-US" dirty="0" smtClean="0"/>
                        <a:t>PLA Vendor X</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2-2-2022</a:t>
                      </a:r>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7892893"/>
                  </a:ext>
                </a:extLst>
              </a:tr>
              <a:tr h="363315">
                <a:tc>
                  <a:txBody>
                    <a:bodyPr/>
                    <a:lstStyle/>
                    <a:p>
                      <a:r>
                        <a:rPr lang="en-US" dirty="0" smtClean="0"/>
                        <a:t>PET G Vendor Z</a:t>
                      </a:r>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05691425"/>
                  </a:ext>
                </a:extLst>
              </a:tr>
            </a:tbl>
          </a:graphicData>
        </a:graphic>
      </p:graphicFrame>
      <p:sp>
        <p:nvSpPr>
          <p:cNvPr id="10" name="TextBox 9"/>
          <p:cNvSpPr txBox="1"/>
          <p:nvPr/>
        </p:nvSpPr>
        <p:spPr>
          <a:xfrm>
            <a:off x="2043117" y="3080801"/>
            <a:ext cx="2619375" cy="369332"/>
          </a:xfrm>
          <a:prstGeom prst="rect">
            <a:avLst/>
          </a:prstGeom>
          <a:noFill/>
        </p:spPr>
        <p:txBody>
          <a:bodyPr wrap="square" rtlCol="0">
            <a:spAutoFit/>
          </a:bodyPr>
          <a:lstStyle/>
          <a:p>
            <a:r>
              <a:rPr lang="en-US" dirty="0" smtClean="0"/>
              <a:t>Edit Materials</a:t>
            </a:r>
            <a:endParaRPr lang="en-US" dirty="0"/>
          </a:p>
        </p:txBody>
      </p:sp>
      <p:sp>
        <p:nvSpPr>
          <p:cNvPr id="11" name="Rounded Rectangle 10"/>
          <p:cNvSpPr/>
          <p:nvPr/>
        </p:nvSpPr>
        <p:spPr>
          <a:xfrm>
            <a:off x="1800224" y="2678608"/>
            <a:ext cx="2628901"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Add New Material Batch</a:t>
            </a:r>
            <a:endParaRPr lang="en-US" dirty="0"/>
          </a:p>
        </p:txBody>
      </p:sp>
      <p:sp>
        <p:nvSpPr>
          <p:cNvPr id="15" name="Rounded Rectangle 14"/>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16" name="Rounded Rectangle 15"/>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17" name="Rounded Rectangle 16"/>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18" name="Rounded Rectangle 17"/>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19" name="Rounded Rectangle 18"/>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3774644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Artifacts Landing Page (after you select one) Short Term</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pPr marL="0" indent="0">
              <a:buNone/>
            </a:pPr>
            <a:r>
              <a:rPr lang="en-US" dirty="0" smtClean="0"/>
              <a:t>*(note there is a previous login page not shown that will need to be implemented)</a:t>
            </a:r>
            <a:endParaRPr lang="en-US" dirty="0"/>
          </a:p>
        </p:txBody>
      </p:sp>
      <p:sp>
        <p:nvSpPr>
          <p:cNvPr id="4" name="Rectangle 3"/>
          <p:cNvSpPr/>
          <p:nvPr/>
        </p:nvSpPr>
        <p:spPr>
          <a:xfrm>
            <a:off x="749272" y="1684501"/>
            <a:ext cx="10871710" cy="434195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851878094"/>
              </p:ext>
            </p:extLst>
          </p:nvPr>
        </p:nvGraphicFramePr>
        <p:xfrm>
          <a:off x="1176336" y="3164600"/>
          <a:ext cx="9442652" cy="1381760"/>
        </p:xfrm>
        <a:graphic>
          <a:graphicData uri="http://schemas.openxmlformats.org/drawingml/2006/table">
            <a:tbl>
              <a:tblPr firstRow="1" bandRow="1">
                <a:tableStyleId>{5C22544A-7EE6-4342-B048-85BDC9FD1C3A}</a:tableStyleId>
              </a:tblPr>
              <a:tblGrid>
                <a:gridCol w="1110583">
                  <a:extLst>
                    <a:ext uri="{9D8B030D-6E8A-4147-A177-3AD203B41FA5}">
                      <a16:colId xmlns:a16="http://schemas.microsoft.com/office/drawing/2014/main" val="1152287141"/>
                    </a:ext>
                  </a:extLst>
                </a:gridCol>
                <a:gridCol w="1211115">
                  <a:extLst>
                    <a:ext uri="{9D8B030D-6E8A-4147-A177-3AD203B41FA5}">
                      <a16:colId xmlns:a16="http://schemas.microsoft.com/office/drawing/2014/main" val="477090197"/>
                    </a:ext>
                  </a:extLst>
                </a:gridCol>
                <a:gridCol w="1362778">
                  <a:extLst>
                    <a:ext uri="{9D8B030D-6E8A-4147-A177-3AD203B41FA5}">
                      <a16:colId xmlns:a16="http://schemas.microsoft.com/office/drawing/2014/main" val="4045655870"/>
                    </a:ext>
                  </a:extLst>
                </a:gridCol>
                <a:gridCol w="1919392">
                  <a:extLst>
                    <a:ext uri="{9D8B030D-6E8A-4147-A177-3AD203B41FA5}">
                      <a16:colId xmlns:a16="http://schemas.microsoft.com/office/drawing/2014/main" val="2966434616"/>
                    </a:ext>
                  </a:extLst>
                </a:gridCol>
                <a:gridCol w="1661563">
                  <a:extLst>
                    <a:ext uri="{9D8B030D-6E8A-4147-A177-3AD203B41FA5}">
                      <a16:colId xmlns:a16="http://schemas.microsoft.com/office/drawing/2014/main" val="4185271877"/>
                    </a:ext>
                  </a:extLst>
                </a:gridCol>
                <a:gridCol w="2177221">
                  <a:extLst>
                    <a:ext uri="{9D8B030D-6E8A-4147-A177-3AD203B41FA5}">
                      <a16:colId xmlns:a16="http://schemas.microsoft.com/office/drawing/2014/main" val="2525721345"/>
                    </a:ext>
                  </a:extLst>
                </a:gridCol>
              </a:tblGrid>
              <a:tr h="370840">
                <a:tc>
                  <a:txBody>
                    <a:bodyPr/>
                    <a:lstStyle/>
                    <a:p>
                      <a:r>
                        <a:rPr lang="en-US" dirty="0" smtClean="0"/>
                        <a:t>STL CADD</a:t>
                      </a:r>
                      <a:endParaRPr lang="en-US" dirty="0"/>
                    </a:p>
                  </a:txBody>
                  <a:tcPr/>
                </a:tc>
                <a:tc>
                  <a:txBody>
                    <a:bodyPr/>
                    <a:lstStyle/>
                    <a:p>
                      <a:r>
                        <a:rPr lang="en-US" dirty="0" smtClean="0"/>
                        <a:t>GCODE/Toolpath</a:t>
                      </a:r>
                      <a:endParaRPr lang="en-US" dirty="0"/>
                    </a:p>
                  </a:txBody>
                  <a:tcPr/>
                </a:tc>
                <a:tc>
                  <a:txBody>
                    <a:bodyPr/>
                    <a:lstStyle/>
                    <a:p>
                      <a:r>
                        <a:rPr lang="en-US" dirty="0" smtClean="0"/>
                        <a:t>Material Lot </a:t>
                      </a:r>
                      <a:r>
                        <a:rPr lang="en-US" dirty="0" err="1" smtClean="0"/>
                        <a:t>Desc</a:t>
                      </a:r>
                      <a:endParaRPr lang="en-US" dirty="0"/>
                    </a:p>
                  </a:txBody>
                  <a:tcPr/>
                </a:tc>
                <a:tc>
                  <a:txBody>
                    <a:bodyPr/>
                    <a:lstStyle/>
                    <a:p>
                      <a:r>
                        <a:rPr lang="en-US" dirty="0" smtClean="0"/>
                        <a:t>Sensor Feeds</a:t>
                      </a:r>
                      <a:endParaRPr lang="en-US" dirty="0"/>
                    </a:p>
                  </a:txBody>
                  <a:tcPr/>
                </a:tc>
                <a:tc>
                  <a:txBody>
                    <a:bodyPr/>
                    <a:lstStyle/>
                    <a:p>
                      <a:r>
                        <a:rPr lang="en-US" dirty="0" smtClean="0"/>
                        <a:t>Testing Results</a:t>
                      </a:r>
                      <a:endParaRPr lang="en-US" dirty="0"/>
                    </a:p>
                  </a:txBody>
                  <a:tcPr/>
                </a:tc>
                <a:tc>
                  <a:txBody>
                    <a:bodyPr/>
                    <a:lstStyle/>
                    <a:p>
                      <a:r>
                        <a:rPr lang="en-US" dirty="0" smtClean="0"/>
                        <a:t>What Else</a:t>
                      </a:r>
                      <a:endParaRPr lang="en-US" dirty="0"/>
                    </a:p>
                  </a:txBody>
                  <a:tcPr/>
                </a:tc>
                <a:extLst>
                  <a:ext uri="{0D108BD9-81ED-4DB2-BD59-A6C34878D82A}">
                    <a16:rowId xmlns:a16="http://schemas.microsoft.com/office/drawing/2014/main" val="1058674053"/>
                  </a:ext>
                </a:extLst>
              </a:tr>
              <a:tr h="370840">
                <a:tc>
                  <a:txBody>
                    <a:bodyPr/>
                    <a:lstStyle/>
                    <a:p>
                      <a:r>
                        <a:rPr lang="en-US" dirty="0" smtClean="0"/>
                        <a:t>filename</a:t>
                      </a:r>
                      <a:endParaRPr lang="en-US" dirty="0"/>
                    </a:p>
                  </a:txBody>
                  <a:tcPr/>
                </a:tc>
                <a:tc>
                  <a:txBody>
                    <a:bodyPr/>
                    <a:lstStyle/>
                    <a:p>
                      <a:r>
                        <a:rPr lang="en-US" dirty="0" smtClean="0"/>
                        <a:t>filename</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u="sng" dirty="0" smtClean="0">
                          <a:solidFill>
                            <a:schemeClr val="accent1"/>
                          </a:solidFill>
                        </a:rPr>
                        <a:t>Hyperlink drill down?</a:t>
                      </a:r>
                      <a:endParaRPr lang="en-US" u="sng" dirty="0">
                        <a:solidFill>
                          <a:schemeClr val="accent1"/>
                        </a:solidFill>
                      </a:endParaRPr>
                    </a:p>
                  </a:txBody>
                  <a:tcPr/>
                </a:tc>
                <a:extLst>
                  <a:ext uri="{0D108BD9-81ED-4DB2-BD59-A6C34878D82A}">
                    <a16:rowId xmlns:a16="http://schemas.microsoft.com/office/drawing/2014/main" val="677892893"/>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05691425"/>
                  </a:ext>
                </a:extLst>
              </a:tr>
            </a:tbl>
          </a:graphicData>
        </a:graphic>
      </p:graphicFrame>
      <p:sp>
        <p:nvSpPr>
          <p:cNvPr id="11" name="Rectangle 10"/>
          <p:cNvSpPr/>
          <p:nvPr/>
        </p:nvSpPr>
        <p:spPr>
          <a:xfrm>
            <a:off x="5327501" y="3855479"/>
            <a:ext cx="1084414" cy="21313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 name="Rectangle 11"/>
          <p:cNvSpPr/>
          <p:nvPr/>
        </p:nvSpPr>
        <p:spPr>
          <a:xfrm>
            <a:off x="7032619" y="3855479"/>
            <a:ext cx="1084414" cy="21313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Rounded Rectangle 12"/>
          <p:cNvSpPr/>
          <p:nvPr/>
        </p:nvSpPr>
        <p:spPr>
          <a:xfrm>
            <a:off x="1800224" y="2678608"/>
            <a:ext cx="2628901"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Add New Artifact</a:t>
            </a:r>
            <a:endParaRPr lang="en-US" dirty="0"/>
          </a:p>
        </p:txBody>
      </p:sp>
      <p:sp>
        <p:nvSpPr>
          <p:cNvPr id="14" name="Right Bracket 13"/>
          <p:cNvSpPr/>
          <p:nvPr/>
        </p:nvSpPr>
        <p:spPr>
          <a:xfrm rot="5400000">
            <a:off x="2345797" y="3569213"/>
            <a:ext cx="987819" cy="3326741"/>
          </a:xfrm>
          <a:prstGeom prst="righ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1259044" y="4770919"/>
            <a:ext cx="3423235" cy="923330"/>
          </a:xfrm>
          <a:prstGeom prst="rect">
            <a:avLst/>
          </a:prstGeom>
          <a:noFill/>
        </p:spPr>
        <p:txBody>
          <a:bodyPr wrap="square" rtlCol="0">
            <a:spAutoFit/>
          </a:bodyPr>
          <a:lstStyle/>
          <a:p>
            <a:r>
              <a:rPr lang="en-US" dirty="0" smtClean="0"/>
              <a:t>What other properties, these are things that are added when you create a new artifact</a:t>
            </a:r>
            <a:endParaRPr lang="en-US" dirty="0"/>
          </a:p>
        </p:txBody>
      </p:sp>
      <p:sp>
        <p:nvSpPr>
          <p:cNvPr id="17" name="TextBox 16"/>
          <p:cNvSpPr txBox="1"/>
          <p:nvPr/>
        </p:nvSpPr>
        <p:spPr>
          <a:xfrm>
            <a:off x="4660109" y="4759496"/>
            <a:ext cx="5233678" cy="923330"/>
          </a:xfrm>
          <a:prstGeom prst="rect">
            <a:avLst/>
          </a:prstGeom>
          <a:noFill/>
        </p:spPr>
        <p:txBody>
          <a:bodyPr wrap="square" rtlCol="0">
            <a:spAutoFit/>
          </a:bodyPr>
          <a:lstStyle/>
          <a:p>
            <a:r>
              <a:rPr lang="en-US" dirty="0" smtClean="0"/>
              <a:t>What are associated properties or entities, traditionally this are children tables to the parent (the artifact has many testing results or sensor feeds)</a:t>
            </a:r>
            <a:endParaRPr lang="en-US" dirty="0"/>
          </a:p>
        </p:txBody>
      </p:sp>
      <p:sp>
        <p:nvSpPr>
          <p:cNvPr id="18" name="Right Bracket 17"/>
          <p:cNvSpPr/>
          <p:nvPr/>
        </p:nvSpPr>
        <p:spPr>
          <a:xfrm rot="5400000">
            <a:off x="6764255" y="2630699"/>
            <a:ext cx="987819" cy="5196111"/>
          </a:xfrm>
          <a:prstGeom prst="righ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Rounded Rectangle 23"/>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25" name="Rounded Rectangle 24"/>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26" name="Rounded Rectangle 25"/>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27" name="Rounded Rectangle 26"/>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28" name="Rounded Rectangle 27"/>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23286213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Operations Landing Page (after you select one) Short Term</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pPr marL="0" indent="0">
              <a:buNone/>
            </a:pPr>
            <a:r>
              <a:rPr lang="en-US" dirty="0" smtClean="0"/>
              <a:t>*(note there is a previous login page not shown that will need to be implemented)</a:t>
            </a:r>
            <a:endParaRPr lang="en-US" dirty="0"/>
          </a:p>
        </p:txBody>
      </p:sp>
      <p:sp>
        <p:nvSpPr>
          <p:cNvPr id="4" name="Rectangle 3"/>
          <p:cNvSpPr/>
          <p:nvPr/>
        </p:nvSpPr>
        <p:spPr>
          <a:xfrm>
            <a:off x="749272" y="1684501"/>
            <a:ext cx="10871710" cy="434195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580192360"/>
              </p:ext>
            </p:extLst>
          </p:nvPr>
        </p:nvGraphicFramePr>
        <p:xfrm>
          <a:off x="1176336" y="3164600"/>
          <a:ext cx="9860794" cy="1651000"/>
        </p:xfrm>
        <a:graphic>
          <a:graphicData uri="http://schemas.openxmlformats.org/drawingml/2006/table">
            <a:tbl>
              <a:tblPr firstRow="1" bandRow="1">
                <a:tableStyleId>{5C22544A-7EE6-4342-B048-85BDC9FD1C3A}</a:tableStyleId>
              </a:tblPr>
              <a:tblGrid>
                <a:gridCol w="1159762">
                  <a:extLst>
                    <a:ext uri="{9D8B030D-6E8A-4147-A177-3AD203B41FA5}">
                      <a16:colId xmlns:a16="http://schemas.microsoft.com/office/drawing/2014/main" val="1152287141"/>
                    </a:ext>
                  </a:extLst>
                </a:gridCol>
                <a:gridCol w="1264746">
                  <a:extLst>
                    <a:ext uri="{9D8B030D-6E8A-4147-A177-3AD203B41FA5}">
                      <a16:colId xmlns:a16="http://schemas.microsoft.com/office/drawing/2014/main" val="477090197"/>
                    </a:ext>
                  </a:extLst>
                </a:gridCol>
                <a:gridCol w="1423125">
                  <a:extLst>
                    <a:ext uri="{9D8B030D-6E8A-4147-A177-3AD203B41FA5}">
                      <a16:colId xmlns:a16="http://schemas.microsoft.com/office/drawing/2014/main" val="4045655870"/>
                    </a:ext>
                  </a:extLst>
                </a:gridCol>
                <a:gridCol w="2309611">
                  <a:extLst>
                    <a:ext uri="{9D8B030D-6E8A-4147-A177-3AD203B41FA5}">
                      <a16:colId xmlns:a16="http://schemas.microsoft.com/office/drawing/2014/main" val="2966434616"/>
                    </a:ext>
                  </a:extLst>
                </a:gridCol>
                <a:gridCol w="1429917">
                  <a:extLst>
                    <a:ext uri="{9D8B030D-6E8A-4147-A177-3AD203B41FA5}">
                      <a16:colId xmlns:a16="http://schemas.microsoft.com/office/drawing/2014/main" val="4185271877"/>
                    </a:ext>
                  </a:extLst>
                </a:gridCol>
                <a:gridCol w="2273633">
                  <a:extLst>
                    <a:ext uri="{9D8B030D-6E8A-4147-A177-3AD203B41FA5}">
                      <a16:colId xmlns:a16="http://schemas.microsoft.com/office/drawing/2014/main" val="2525721345"/>
                    </a:ext>
                  </a:extLst>
                </a:gridCol>
              </a:tblGrid>
              <a:tr h="370840">
                <a:tc>
                  <a:txBody>
                    <a:bodyPr/>
                    <a:lstStyle/>
                    <a:p>
                      <a:r>
                        <a:rPr lang="en-US" dirty="0" smtClean="0"/>
                        <a:t>Artifact</a:t>
                      </a:r>
                      <a:endParaRPr lang="en-US" dirty="0"/>
                    </a:p>
                  </a:txBody>
                  <a:tcPr/>
                </a:tc>
                <a:tc>
                  <a:txBody>
                    <a:bodyPr/>
                    <a:lstStyle/>
                    <a:p>
                      <a:r>
                        <a:rPr lang="en-US" dirty="0" smtClean="0"/>
                        <a:t>Operation Type</a:t>
                      </a:r>
                      <a:endParaRPr lang="en-US" dirty="0"/>
                    </a:p>
                  </a:txBody>
                  <a:tcPr/>
                </a:tc>
                <a:tc>
                  <a:txBody>
                    <a:bodyPr/>
                    <a:lstStyle/>
                    <a:p>
                      <a:r>
                        <a:rPr lang="en-US" dirty="0" smtClean="0"/>
                        <a:t>Material Lot </a:t>
                      </a:r>
                      <a:r>
                        <a:rPr lang="en-US" dirty="0" err="1" smtClean="0"/>
                        <a:t>Desc</a:t>
                      </a:r>
                      <a:endParaRPr lang="en-US" dirty="0"/>
                    </a:p>
                  </a:txBody>
                  <a:tcPr/>
                </a:tc>
                <a:tc>
                  <a:txBody>
                    <a:bodyPr/>
                    <a:lstStyle/>
                    <a:p>
                      <a:r>
                        <a:rPr lang="en-US" dirty="0" smtClean="0"/>
                        <a:t>Results</a:t>
                      </a:r>
                      <a:endParaRPr lang="en-US" dirty="0"/>
                    </a:p>
                  </a:txBody>
                  <a:tcPr/>
                </a:tc>
                <a:tc>
                  <a:txBody>
                    <a:bodyPr/>
                    <a:lstStyle/>
                    <a:p>
                      <a:r>
                        <a:rPr lang="en-US" dirty="0" smtClean="0"/>
                        <a:t>What else</a:t>
                      </a:r>
                      <a:endParaRPr lang="en-US" dirty="0"/>
                    </a:p>
                  </a:txBody>
                  <a:tcPr/>
                </a:tc>
                <a:tc>
                  <a:txBody>
                    <a:bodyPr/>
                    <a:lstStyle/>
                    <a:p>
                      <a:r>
                        <a:rPr lang="en-US" dirty="0" smtClean="0"/>
                        <a:t>What Else</a:t>
                      </a:r>
                      <a:endParaRPr lang="en-US" dirty="0"/>
                    </a:p>
                  </a:txBody>
                  <a:tcPr/>
                </a:tc>
                <a:extLst>
                  <a:ext uri="{0D108BD9-81ED-4DB2-BD59-A6C34878D82A}">
                    <a16:rowId xmlns:a16="http://schemas.microsoft.com/office/drawing/2014/main" val="1058674053"/>
                  </a:ext>
                </a:extLst>
              </a:tr>
              <a:tr h="370840">
                <a:tc>
                  <a:txBody>
                    <a:bodyPr/>
                    <a:lstStyle/>
                    <a:p>
                      <a:r>
                        <a:rPr lang="en-US" dirty="0" smtClean="0"/>
                        <a:t>Xyz</a:t>
                      </a:r>
                      <a:endParaRPr lang="en-US" dirty="0"/>
                    </a:p>
                  </a:txBody>
                  <a:tcPr/>
                </a:tc>
                <a:tc>
                  <a:txBody>
                    <a:bodyPr/>
                    <a:lstStyle/>
                    <a:p>
                      <a:r>
                        <a:rPr lang="en-US" dirty="0" smtClean="0"/>
                        <a:t>Testing</a:t>
                      </a:r>
                      <a:endParaRPr lang="en-US" dirty="0"/>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smtClean="0">
                          <a:solidFill>
                            <a:schemeClr val="accent1"/>
                          </a:solidFill>
                        </a:rPr>
                        <a:t>Hyperlink drill down?</a:t>
                      </a:r>
                    </a:p>
                    <a:p>
                      <a:endParaRPr lang="en-US" dirty="0"/>
                    </a:p>
                  </a:txBody>
                  <a:tcPr/>
                </a:tc>
                <a:tc>
                  <a:txBody>
                    <a:bodyPr/>
                    <a:lstStyle/>
                    <a:p>
                      <a:endParaRPr lang="en-US" dirty="0"/>
                    </a:p>
                  </a:txBody>
                  <a:tcPr/>
                </a:tc>
                <a:tc>
                  <a:txBody>
                    <a:bodyPr/>
                    <a:lstStyle/>
                    <a:p>
                      <a:endParaRPr lang="en-US" u="sng" dirty="0">
                        <a:solidFill>
                          <a:schemeClr val="accent1"/>
                        </a:solidFill>
                      </a:endParaRPr>
                    </a:p>
                  </a:txBody>
                  <a:tcPr/>
                </a:tc>
                <a:extLst>
                  <a:ext uri="{0D108BD9-81ED-4DB2-BD59-A6C34878D82A}">
                    <a16:rowId xmlns:a16="http://schemas.microsoft.com/office/drawing/2014/main" val="677892893"/>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05691425"/>
                  </a:ext>
                </a:extLst>
              </a:tr>
            </a:tbl>
          </a:graphicData>
        </a:graphic>
      </p:graphicFrame>
      <p:sp>
        <p:nvSpPr>
          <p:cNvPr id="12" name="Rectangle 11"/>
          <p:cNvSpPr/>
          <p:nvPr/>
        </p:nvSpPr>
        <p:spPr>
          <a:xfrm>
            <a:off x="7465988" y="3968588"/>
            <a:ext cx="1084414" cy="21313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Rounded Rectangle 12"/>
          <p:cNvSpPr/>
          <p:nvPr/>
        </p:nvSpPr>
        <p:spPr>
          <a:xfrm>
            <a:off x="1800224" y="2678608"/>
            <a:ext cx="2628901"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Add New Operation</a:t>
            </a:r>
            <a:endParaRPr lang="en-US" dirty="0"/>
          </a:p>
        </p:txBody>
      </p:sp>
      <p:sp>
        <p:nvSpPr>
          <p:cNvPr id="14" name="Right Bracket 13"/>
          <p:cNvSpPr/>
          <p:nvPr/>
        </p:nvSpPr>
        <p:spPr>
          <a:xfrm rot="5400000">
            <a:off x="2345797" y="3569213"/>
            <a:ext cx="987819" cy="3326741"/>
          </a:xfrm>
          <a:prstGeom prst="righ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1259044" y="4770919"/>
            <a:ext cx="3423235" cy="923330"/>
          </a:xfrm>
          <a:prstGeom prst="rect">
            <a:avLst/>
          </a:prstGeom>
          <a:noFill/>
        </p:spPr>
        <p:txBody>
          <a:bodyPr wrap="square" rtlCol="0">
            <a:spAutoFit/>
          </a:bodyPr>
          <a:lstStyle/>
          <a:p>
            <a:r>
              <a:rPr lang="en-US" dirty="0" smtClean="0"/>
              <a:t>What other properties, these are things that are added when you create a new artifact</a:t>
            </a:r>
            <a:endParaRPr lang="en-US" dirty="0"/>
          </a:p>
        </p:txBody>
      </p:sp>
      <p:sp>
        <p:nvSpPr>
          <p:cNvPr id="17" name="TextBox 16"/>
          <p:cNvSpPr txBox="1"/>
          <p:nvPr/>
        </p:nvSpPr>
        <p:spPr>
          <a:xfrm>
            <a:off x="4660109" y="4759496"/>
            <a:ext cx="5233678" cy="923330"/>
          </a:xfrm>
          <a:prstGeom prst="rect">
            <a:avLst/>
          </a:prstGeom>
          <a:noFill/>
        </p:spPr>
        <p:txBody>
          <a:bodyPr wrap="square" rtlCol="0">
            <a:spAutoFit/>
          </a:bodyPr>
          <a:lstStyle/>
          <a:p>
            <a:r>
              <a:rPr lang="en-US" dirty="0" smtClean="0"/>
              <a:t>What are associated properties or entities, traditionally this are children tables to the parent (the artifact has many testing results or sensor feeds)</a:t>
            </a:r>
            <a:endParaRPr lang="en-US" dirty="0"/>
          </a:p>
        </p:txBody>
      </p:sp>
      <p:sp>
        <p:nvSpPr>
          <p:cNvPr id="18" name="Right Bracket 17"/>
          <p:cNvSpPr/>
          <p:nvPr/>
        </p:nvSpPr>
        <p:spPr>
          <a:xfrm rot="5400000">
            <a:off x="6764255" y="2630699"/>
            <a:ext cx="987819" cy="5196111"/>
          </a:xfrm>
          <a:prstGeom prst="righ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Rounded Rectangle 23"/>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25" name="Rounded Rectangle 24"/>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26" name="Rounded Rectangle 25"/>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27" name="Rounded Rectangle 26"/>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28" name="Rounded Rectangle 27"/>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27498376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Search Landing Page (Short Term)</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r>
              <a:rPr lang="en-US" dirty="0" smtClean="0"/>
              <a:t>(note there is a previous login page not shown that will need to be implemented)</a:t>
            </a:r>
            <a:endParaRPr lang="en-US" dirty="0"/>
          </a:p>
        </p:txBody>
      </p:sp>
      <p:sp>
        <p:nvSpPr>
          <p:cNvPr id="4" name="Rectangle 3"/>
          <p:cNvSpPr/>
          <p:nvPr/>
        </p:nvSpPr>
        <p:spPr>
          <a:xfrm>
            <a:off x="597347" y="1570572"/>
            <a:ext cx="11112563" cy="452145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sp>
        <p:nvSpPr>
          <p:cNvPr id="10" name="TextBox 9"/>
          <p:cNvSpPr txBox="1"/>
          <p:nvPr/>
        </p:nvSpPr>
        <p:spPr>
          <a:xfrm>
            <a:off x="1604963" y="2669486"/>
            <a:ext cx="2619375" cy="369332"/>
          </a:xfrm>
          <a:prstGeom prst="rect">
            <a:avLst/>
          </a:prstGeom>
          <a:noFill/>
        </p:spPr>
        <p:txBody>
          <a:bodyPr wrap="square" rtlCol="0">
            <a:spAutoFit/>
          </a:bodyPr>
          <a:lstStyle/>
          <a:p>
            <a:r>
              <a:rPr lang="en-US" dirty="0" smtClean="0"/>
              <a:t>Search</a:t>
            </a:r>
            <a:endParaRPr lang="en-US" dirty="0"/>
          </a:p>
        </p:txBody>
      </p:sp>
      <p:sp>
        <p:nvSpPr>
          <p:cNvPr id="6" name="Rectangle 5"/>
          <p:cNvSpPr/>
          <p:nvPr/>
        </p:nvSpPr>
        <p:spPr>
          <a:xfrm>
            <a:off x="2461959" y="2692461"/>
            <a:ext cx="7063424" cy="3337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076929" y="3427780"/>
            <a:ext cx="7728747" cy="1754326"/>
          </a:xfrm>
          <a:prstGeom prst="rect">
            <a:avLst/>
          </a:prstGeom>
          <a:noFill/>
        </p:spPr>
        <p:txBody>
          <a:bodyPr wrap="square" rtlCol="0">
            <a:spAutoFit/>
          </a:bodyPr>
          <a:lstStyle/>
          <a:p>
            <a:r>
              <a:rPr lang="en-US" dirty="0" smtClean="0"/>
              <a:t>What are the tools</a:t>
            </a:r>
          </a:p>
          <a:p>
            <a:r>
              <a:rPr lang="en-US" dirty="0" smtClean="0"/>
              <a:t>What do we search by? </a:t>
            </a:r>
          </a:p>
          <a:p>
            <a:r>
              <a:rPr lang="en-US" dirty="0" smtClean="0"/>
              <a:t>How do we get voxel numbers in 3D or 4D time/space?</a:t>
            </a:r>
          </a:p>
          <a:p>
            <a:r>
              <a:rPr lang="en-US" dirty="0" smtClean="0"/>
              <a:t>What do we want to see?</a:t>
            </a:r>
          </a:p>
          <a:p>
            <a:r>
              <a:rPr lang="en-US" dirty="0" smtClean="0"/>
              <a:t>How do we organize the results?  </a:t>
            </a:r>
            <a:endParaRPr lang="en-US" dirty="0"/>
          </a:p>
          <a:p>
            <a:r>
              <a:rPr lang="en-US" dirty="0" smtClean="0"/>
              <a:t>How do we link, to link, to link to drill down to pieces and parts?</a:t>
            </a:r>
            <a:endParaRPr lang="en-US" dirty="0"/>
          </a:p>
        </p:txBody>
      </p:sp>
      <p:sp>
        <p:nvSpPr>
          <p:cNvPr id="16" name="Rounded Rectangle 15"/>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17" name="Rounded Rectangle 16"/>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18" name="Rounded Rectangle 17"/>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19" name="Rounded Rectangle 18"/>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20" name="Rounded Rectangle 19"/>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2762579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92" y="365125"/>
            <a:ext cx="10889708" cy="1325563"/>
          </a:xfrm>
        </p:spPr>
        <p:txBody>
          <a:bodyPr>
            <a:normAutofit/>
          </a:bodyPr>
          <a:lstStyle/>
          <a:p>
            <a:r>
              <a:rPr lang="en-US" dirty="0" smtClean="0"/>
              <a:t>Analyze (AI/ML tools) Landing Page (Long Term)</a:t>
            </a:r>
            <a:endParaRPr lang="en-US" dirty="0"/>
          </a:p>
        </p:txBody>
      </p:sp>
      <p:sp>
        <p:nvSpPr>
          <p:cNvPr id="3" name="Content Placeholder 2"/>
          <p:cNvSpPr>
            <a:spLocks noGrp="1"/>
          </p:cNvSpPr>
          <p:nvPr>
            <p:ph idx="1"/>
          </p:nvPr>
        </p:nvSpPr>
        <p:spPr>
          <a:xfrm>
            <a:off x="1001705" y="6248400"/>
            <a:ext cx="8593752" cy="407900"/>
          </a:xfrm>
        </p:spPr>
        <p:txBody>
          <a:bodyPr>
            <a:normAutofit fontScale="62500" lnSpcReduction="20000"/>
          </a:bodyPr>
          <a:lstStyle/>
          <a:p>
            <a:r>
              <a:rPr lang="en-US" dirty="0" smtClean="0"/>
              <a:t>(note there is a previous login page not shown that will need to be implemented)</a:t>
            </a:r>
            <a:endParaRPr lang="en-US" dirty="0"/>
          </a:p>
        </p:txBody>
      </p:sp>
      <p:sp>
        <p:nvSpPr>
          <p:cNvPr id="4" name="Rectangle 3"/>
          <p:cNvSpPr/>
          <p:nvPr/>
        </p:nvSpPr>
        <p:spPr>
          <a:xfrm>
            <a:off x="500852" y="1690688"/>
            <a:ext cx="11209058" cy="452145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p:cNvSpPr txBox="1"/>
          <p:nvPr/>
        </p:nvSpPr>
        <p:spPr>
          <a:xfrm>
            <a:off x="1001705" y="1690688"/>
            <a:ext cx="2150448" cy="369332"/>
          </a:xfrm>
          <a:prstGeom prst="rect">
            <a:avLst/>
          </a:prstGeom>
          <a:noFill/>
        </p:spPr>
        <p:txBody>
          <a:bodyPr wrap="square" rtlCol="0">
            <a:spAutoFit/>
          </a:bodyPr>
          <a:lstStyle/>
          <a:p>
            <a:r>
              <a:rPr lang="en-US" dirty="0" smtClean="0"/>
              <a:t>Welcome John Doe</a:t>
            </a:r>
            <a:endParaRPr lang="en-US" dirty="0"/>
          </a:p>
        </p:txBody>
      </p:sp>
      <p:sp>
        <p:nvSpPr>
          <p:cNvPr id="10" name="TextBox 9"/>
          <p:cNvSpPr txBox="1"/>
          <p:nvPr/>
        </p:nvSpPr>
        <p:spPr>
          <a:xfrm>
            <a:off x="1604963" y="2669486"/>
            <a:ext cx="2619375" cy="369332"/>
          </a:xfrm>
          <a:prstGeom prst="rect">
            <a:avLst/>
          </a:prstGeom>
          <a:noFill/>
        </p:spPr>
        <p:txBody>
          <a:bodyPr wrap="square" rtlCol="0">
            <a:spAutoFit/>
          </a:bodyPr>
          <a:lstStyle/>
          <a:p>
            <a:r>
              <a:rPr lang="en-US" dirty="0" smtClean="0"/>
              <a:t>Search</a:t>
            </a:r>
            <a:endParaRPr lang="en-US" dirty="0"/>
          </a:p>
        </p:txBody>
      </p:sp>
      <p:sp>
        <p:nvSpPr>
          <p:cNvPr id="6" name="Rectangle 5"/>
          <p:cNvSpPr/>
          <p:nvPr/>
        </p:nvSpPr>
        <p:spPr>
          <a:xfrm>
            <a:off x="2461959" y="2692461"/>
            <a:ext cx="7063424" cy="3337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1498" y="3870980"/>
            <a:ext cx="7728747" cy="1477328"/>
          </a:xfrm>
          <a:prstGeom prst="rect">
            <a:avLst/>
          </a:prstGeom>
          <a:noFill/>
        </p:spPr>
        <p:txBody>
          <a:bodyPr wrap="square" rtlCol="0">
            <a:spAutoFit/>
          </a:bodyPr>
          <a:lstStyle/>
          <a:p>
            <a:r>
              <a:rPr lang="en-US" dirty="0" smtClean="0"/>
              <a:t>What are the tools?</a:t>
            </a:r>
          </a:p>
          <a:p>
            <a:r>
              <a:rPr lang="en-US" dirty="0" smtClean="0"/>
              <a:t>How do we get to the data for input into analysis process?</a:t>
            </a:r>
          </a:p>
          <a:p>
            <a:r>
              <a:rPr lang="en-US" dirty="0" smtClean="0"/>
              <a:t>R scripting?</a:t>
            </a:r>
          </a:p>
          <a:p>
            <a:r>
              <a:rPr lang="en-US" dirty="0" err="1" smtClean="0"/>
              <a:t>Jupyter</a:t>
            </a:r>
            <a:r>
              <a:rPr lang="en-US" dirty="0" smtClean="0"/>
              <a:t> Notebook?</a:t>
            </a:r>
          </a:p>
          <a:p>
            <a:r>
              <a:rPr lang="en-US" dirty="0" smtClean="0"/>
              <a:t>Etc.</a:t>
            </a:r>
            <a:endParaRPr lang="en-US" dirty="0"/>
          </a:p>
        </p:txBody>
      </p:sp>
      <p:sp>
        <p:nvSpPr>
          <p:cNvPr id="15" name="Rounded Rectangle 14"/>
          <p:cNvSpPr/>
          <p:nvPr/>
        </p:nvSpPr>
        <p:spPr>
          <a:xfrm>
            <a:off x="900638" y="2124075"/>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Materials</a:t>
            </a:r>
            <a:endParaRPr lang="en-US" dirty="0"/>
          </a:p>
        </p:txBody>
      </p:sp>
      <p:sp>
        <p:nvSpPr>
          <p:cNvPr id="16" name="Rounded Rectangle 15"/>
          <p:cNvSpPr/>
          <p:nvPr/>
        </p:nvSpPr>
        <p:spPr>
          <a:xfrm>
            <a:off x="2852451" y="2127961"/>
            <a:ext cx="1901458"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Artifacts</a:t>
            </a:r>
            <a:endParaRPr lang="en-US" dirty="0"/>
          </a:p>
        </p:txBody>
      </p:sp>
      <p:sp>
        <p:nvSpPr>
          <p:cNvPr id="17" name="Rounded Rectangle 16"/>
          <p:cNvSpPr/>
          <p:nvPr/>
        </p:nvSpPr>
        <p:spPr>
          <a:xfrm>
            <a:off x="6957003"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Explore</a:t>
            </a:r>
            <a:endParaRPr lang="en-US" dirty="0"/>
          </a:p>
        </p:txBody>
      </p:sp>
      <p:sp>
        <p:nvSpPr>
          <p:cNvPr id="18" name="Rounded Rectangle 17"/>
          <p:cNvSpPr/>
          <p:nvPr/>
        </p:nvSpPr>
        <p:spPr>
          <a:xfrm>
            <a:off x="9109742"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Analyze (AI/ML)</a:t>
            </a:r>
            <a:endParaRPr lang="en-US" dirty="0"/>
          </a:p>
        </p:txBody>
      </p:sp>
      <p:sp>
        <p:nvSpPr>
          <p:cNvPr id="19" name="Rounded Rectangle 18"/>
          <p:cNvSpPr/>
          <p:nvPr/>
        </p:nvSpPr>
        <p:spPr>
          <a:xfrm>
            <a:off x="4804264" y="2124075"/>
            <a:ext cx="2102384" cy="3381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Operations</a:t>
            </a:r>
            <a:endParaRPr lang="en-US" dirty="0"/>
          </a:p>
        </p:txBody>
      </p:sp>
    </p:spTree>
    <p:extLst>
      <p:ext uri="{BB962C8B-B14F-4D97-AF65-F5344CB8AC3E}">
        <p14:creationId xmlns:p14="http://schemas.microsoft.com/office/powerpoint/2010/main" val="16795834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575</Words>
  <Application>Microsoft Office PowerPoint</Application>
  <PresentationFormat>Widescreen</PresentationFormat>
  <Paragraphs>107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Add Man Data Warehouse UI Sketch</vt:lpstr>
      <vt:lpstr>Add Man Data Warehouse UI Sketch</vt:lpstr>
      <vt:lpstr>Initial Landing Page (Very Short Term Goal)</vt:lpstr>
      <vt:lpstr>Materials Landing Page (Very Short Term Goal)</vt:lpstr>
      <vt:lpstr>Artifacts Landing Page (after you select one) Short Term</vt:lpstr>
      <vt:lpstr>Operations Landing Page (after you select one) Short Term</vt:lpstr>
      <vt:lpstr>Search Landing Page (Short Term)</vt:lpstr>
      <vt:lpstr>Analyze (AI/ML tools) Landing Page (Long Term)</vt:lpstr>
    </vt:vector>
  </TitlesOfParts>
  <Company>US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Man Data Warehouse UI Sketch</dc:title>
  <dc:creator>Stinson, James T ERDC-RDE-ITL-MS CIV</dc:creator>
  <cp:lastModifiedBy>Stinson, James T ERDC-RDE-ITL-MS CIV</cp:lastModifiedBy>
  <cp:revision>11</cp:revision>
  <dcterms:created xsi:type="dcterms:W3CDTF">2022-05-11T17:14:59Z</dcterms:created>
  <dcterms:modified xsi:type="dcterms:W3CDTF">2022-05-11T18:51:21Z</dcterms:modified>
</cp:coreProperties>
</file>